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30141340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30141340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30141340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30141340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30141340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30141340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30141340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30141340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30141340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30141340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30141340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30141340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30141340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30141340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30141340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30141340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30141340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30141340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skmdrakib/SpaceX-Data-Science-Capston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23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SpaceX Falcon 9 Launch Success Predictive Analysis</a:t>
            </a:r>
            <a:endParaRPr sz="4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IBM Data Science Applied Capstone Project</a:t>
            </a:r>
            <a:r>
              <a:rPr lang="en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2950450"/>
            <a:ext cx="8520600" cy="16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Problem Statement: </a:t>
            </a:r>
            <a:r>
              <a:rPr lang="en" sz="1200">
                <a:solidFill>
                  <a:schemeClr val="dk1"/>
                </a:solidFill>
              </a:rPr>
              <a:t>Space launch operations are heavily limited by hardware costs. SpaceX cuts costs dramatically by reusables (landing the Falcon 9 first-stage booster). The goal of this project is to predict whether a Falcon 9 first stage will land successfully, optimizing launch economic decisions.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GitHub Repository URL: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https://github.com/skmdrakib/SpaceX-Data-Science-Capstone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Objective</a:t>
            </a:r>
            <a:endParaRPr b="1" sz="1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Gather, clean, analyze, and build machine learning classifiers to predict Falcon 9 first-stage landing outcomes.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Methodology: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i="1" lang="en" sz="1200">
                <a:solidFill>
                  <a:schemeClr val="dk1"/>
                </a:solidFill>
              </a:rPr>
              <a:t>Data Collection:</a:t>
            </a:r>
            <a:r>
              <a:rPr lang="en" sz="1200">
                <a:solidFill>
                  <a:schemeClr val="dk1"/>
                </a:solidFill>
              </a:rPr>
              <a:t> Combined SpaceX REST API endpoints with Wikipedia web scraping via BeautifulSoup.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i="1" lang="en" sz="1200">
                <a:solidFill>
                  <a:schemeClr val="dk1"/>
                </a:solidFill>
              </a:rPr>
              <a:t>Data Wrangling &amp; EDA:</a:t>
            </a:r>
            <a:r>
              <a:rPr lang="en" sz="1200">
                <a:solidFill>
                  <a:schemeClr val="dk1"/>
                </a:solidFill>
              </a:rPr>
              <a:t> Formatted data types, processed missing data values, and performed querying via SQLite/IBM Db2.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i="1" lang="en" sz="1200">
                <a:solidFill>
                  <a:schemeClr val="dk1"/>
                </a:solidFill>
              </a:rPr>
              <a:t>Data Visualization:</a:t>
            </a:r>
            <a:r>
              <a:rPr lang="en" sz="1200">
                <a:solidFill>
                  <a:schemeClr val="dk1"/>
                </a:solidFill>
              </a:rPr>
              <a:t> Explored features via Folium spatial maps, Seaborn plots, and a Dash Dashboard.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i="1" lang="en" sz="1200">
                <a:solidFill>
                  <a:schemeClr val="dk1"/>
                </a:solidFill>
              </a:rPr>
              <a:t>Machine Learning:</a:t>
            </a:r>
            <a:r>
              <a:rPr lang="en" sz="1200">
                <a:solidFill>
                  <a:schemeClr val="dk1"/>
                </a:solidFill>
              </a:rPr>
              <a:t> Trained and hyperparameter-tuned 4 distinct classification models (Logistic Regression, SVM, Decision Tree, KNN).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0"/>
              </a:spcBef>
              <a:spcAft>
                <a:spcPts val="9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Key Results:</a:t>
            </a:r>
            <a:r>
              <a:rPr lang="en" sz="1200">
                <a:solidFill>
                  <a:schemeClr val="dk1"/>
                </a:solidFill>
              </a:rPr>
              <a:t> All 4 optimized machine learning models yielded an identical test set classification accuracy of </a:t>
            </a:r>
            <a:r>
              <a:rPr b="1" lang="en" sz="1200">
                <a:solidFill>
                  <a:schemeClr val="dk1"/>
                </a:solidFill>
              </a:rPr>
              <a:t>83.33%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 – SpaceX API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Process Description: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Sent HTTP request payloads via Python </a:t>
            </a:r>
            <a:r>
              <a:rPr lang="en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requests.get()</a:t>
            </a:r>
            <a:r>
              <a:rPr lang="en" sz="1200">
                <a:solidFill>
                  <a:schemeClr val="dk1"/>
                </a:solidFill>
              </a:rPr>
              <a:t> to the official SpaceX API endpoint.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Unpacked complex, nested JSON fields into flat tabular features using </a:t>
            </a:r>
            <a:r>
              <a:rPr lang="en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pd.json_normalize()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Filtered columns to restrict entries purely to </a:t>
            </a:r>
            <a:r>
              <a:rPr b="1" lang="en" sz="1200">
                <a:solidFill>
                  <a:schemeClr val="dk1"/>
                </a:solidFill>
              </a:rPr>
              <a:t>Falcon 9</a:t>
            </a:r>
            <a:r>
              <a:rPr lang="en" sz="1200">
                <a:solidFill>
                  <a:schemeClr val="dk1"/>
                </a:solidFill>
              </a:rPr>
              <a:t> launches (removing older Falcon 1 entries), reducing the core records down to </a:t>
            </a:r>
            <a:r>
              <a:rPr b="1" lang="en" sz="1200">
                <a:solidFill>
                  <a:schemeClr val="dk1"/>
                </a:solidFill>
              </a:rPr>
              <a:t>90 rows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 – Web Scraping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Process Description: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Targeted the "List of Falcon 9 and Falcon Heavy launches" page on Wikipedia.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Requested raw page components and passed the layout directly into a </a:t>
            </a:r>
            <a:r>
              <a:rPr lang="en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BeautifulSoup</a:t>
            </a:r>
            <a:r>
              <a:rPr lang="en" sz="1200">
                <a:solidFill>
                  <a:schemeClr val="dk1"/>
                </a:solidFill>
              </a:rPr>
              <a:t> object.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Extracted HTML table rows (</a:t>
            </a:r>
            <a:r>
              <a:rPr lang="en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&lt;tr&gt;</a:t>
            </a:r>
            <a:r>
              <a:rPr lang="en" sz="1200">
                <a:solidFill>
                  <a:schemeClr val="dk1"/>
                </a:solidFill>
              </a:rPr>
              <a:t>) systematically to parse and create clean column vectors for launch dates, booster configurations, payloads, and mission outcomes.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Wrangling Methodology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Data Cleaning Checklist: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Handled missing variables: Found </a:t>
            </a:r>
            <a:r>
              <a:rPr b="1" lang="en" sz="1200">
                <a:solidFill>
                  <a:schemeClr val="dk1"/>
                </a:solidFill>
              </a:rPr>
              <a:t>26 missing entries</a:t>
            </a:r>
            <a:r>
              <a:rPr lang="en" sz="1200">
                <a:solidFill>
                  <a:schemeClr val="dk1"/>
                </a:solidFill>
              </a:rPr>
              <a:t> in the </a:t>
            </a:r>
            <a:r>
              <a:rPr lang="en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landingPad</a:t>
            </a:r>
            <a:r>
              <a:rPr lang="en" sz="1200">
                <a:solidFill>
                  <a:schemeClr val="dk1"/>
                </a:solidFill>
              </a:rPr>
              <a:t> feature column.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Imputed values: Replaced missing payload mass values (</a:t>
            </a:r>
            <a:r>
              <a:rPr lang="en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n" sz="1200">
                <a:solidFill>
                  <a:schemeClr val="dk1"/>
                </a:solidFill>
              </a:rPr>
              <a:t>) with the calculated dataset mean column value.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Binary Classification Encoding:</a:t>
            </a:r>
            <a:r>
              <a:rPr lang="en" sz="1200">
                <a:solidFill>
                  <a:schemeClr val="dk1"/>
                </a:solidFill>
              </a:rPr>
              <a:t> Converted raw textual mission outcomes into numbers. Unsuccessful outcomes were classified as </a:t>
            </a:r>
            <a:r>
              <a:rPr b="1" lang="en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200">
                <a:solidFill>
                  <a:schemeClr val="dk1"/>
                </a:solidFill>
              </a:rPr>
              <a:t>, while successful landings (like drone ship or ground pad) were encoded explicitly as </a:t>
            </a:r>
            <a:r>
              <a:rPr b="1" lang="en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with Data Visualization 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382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Key Visual Patterns Discovered: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en" sz="1200">
                <a:solidFill>
                  <a:schemeClr val="dk1"/>
                </a:solidFill>
              </a:rPr>
              <a:t>Flight Number vs. Launch Site:</a:t>
            </a:r>
            <a:r>
              <a:rPr lang="en" sz="1200">
                <a:solidFill>
                  <a:schemeClr val="dk1"/>
                </a:solidFill>
              </a:rPr>
              <a:t> Early flights clustered heavily around </a:t>
            </a:r>
            <a:r>
              <a:rPr lang="en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CCAFS LC-40</a:t>
            </a:r>
            <a:r>
              <a:rPr lang="en" sz="1200">
                <a:solidFill>
                  <a:schemeClr val="dk1"/>
                </a:solidFill>
              </a:rPr>
              <a:t> with volatile failure rates. As flight counts increased past 40, success markers became heavily concentrated across all sites.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en" sz="1200">
                <a:solidFill>
                  <a:schemeClr val="dk1"/>
                </a:solidFill>
              </a:rPr>
              <a:t>Payload Mass vs. Launch Site:</a:t>
            </a:r>
            <a:r>
              <a:rPr lang="en" sz="1200">
                <a:solidFill>
                  <a:schemeClr val="dk1"/>
                </a:solidFill>
              </a:rPr>
              <a:t> Heavier payloads (&gt;8,000 kg) show a very high percentage of successful landing outcomes across the board.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en" sz="1200">
                <a:solidFill>
                  <a:schemeClr val="dk1"/>
                </a:solidFill>
              </a:rPr>
              <a:t>Yearly Success Trend:</a:t>
            </a:r>
            <a:r>
              <a:rPr lang="en" sz="1200">
                <a:solidFill>
                  <a:schemeClr val="dk1"/>
                </a:solidFill>
              </a:rPr>
              <a:t> Plotting success rates over time reveals a steady upward slope, validating technical improvements and mature engineering iterations from 2013 onward.</a:t>
            </a:r>
            <a:endParaRPr/>
          </a:p>
        </p:txBody>
      </p:sp>
      <p:pic>
        <p:nvPicPr>
          <p:cNvPr id="86" name="Google Shape;86;p18" title="flight_vs_site_stack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575" y="1276800"/>
            <a:ext cx="4633974" cy="302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with SQL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Core Queries Performed: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SELECT DISTINCT Launch_Site FROM SPACEXTBL;</a:t>
            </a:r>
            <a:r>
              <a:rPr lang="en" sz="1200">
                <a:solidFill>
                  <a:schemeClr val="dk1"/>
                </a:solidFill>
              </a:rPr>
              <a:t> \(\rightarrow \) Confirmed 4 unique string designations.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SELECT COUNT(*) FROM SPACEXTBL WHERE Launch_Site = 'CCAFS SLC-40';</a:t>
            </a:r>
            <a:r>
              <a:rPr lang="en" sz="1200">
                <a:solidFill>
                  <a:schemeClr val="dk1"/>
                </a:solidFill>
              </a:rPr>
              <a:t> \(\rightarrow \) Evaluated total launches (55 records).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SELECT SUM(PAYLOAD_MASS__KG_) AS Total_Payload_Mass FROM SPACEXTBL;</a:t>
            </a:r>
            <a:r>
              <a:rPr lang="en" sz="1200">
                <a:solidFill>
                  <a:schemeClr val="dk1"/>
                </a:solidFill>
              </a:rPr>
              <a:t> \(\rightarrow \) Aggregate performance calculation grouped by booster configurations.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Visual Analytics 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330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Folium Spatial Map:</a:t>
            </a:r>
            <a:r>
              <a:rPr lang="en" sz="1200">
                <a:solidFill>
                  <a:schemeClr val="dk1"/>
                </a:solidFill>
              </a:rPr>
              <a:t> Used map rendering vectors to plant coordinate points for all main launch areas. Bound a </a:t>
            </a:r>
            <a:r>
              <a:rPr lang="en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MarkerCluster</a:t>
            </a:r>
            <a:r>
              <a:rPr lang="en" sz="1200">
                <a:solidFill>
                  <a:schemeClr val="dk1"/>
                </a:solidFill>
              </a:rPr>
              <a:t> layer to handle dense coordinate nodes neatly and layered polyline vectors calculating physical proximity distances to coastal boundaries and transit links.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Plotly Dash Application:</a:t>
            </a:r>
            <a:r>
              <a:rPr lang="en" sz="1200">
                <a:solidFill>
                  <a:schemeClr val="dk1"/>
                </a:solidFill>
              </a:rPr>
              <a:t> Created an interactive interface linking a global site selector drop-down box directly to a reactive pie chart breakdown (success/failure rates) and a payload-driven scatter chart split dynamically by color mapping.</a:t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4400" y="1271400"/>
            <a:ext cx="5207524" cy="246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Analysis Models &amp; Final Conclusion 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Model Accuracy Scoreboard (Test Dataset):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en" sz="1200">
                <a:solidFill>
                  <a:schemeClr val="dk1"/>
                </a:solidFill>
              </a:rPr>
              <a:t>Logistic Regression: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b="1" lang="en" sz="1200">
                <a:solidFill>
                  <a:schemeClr val="dk1"/>
                </a:solidFill>
              </a:rPr>
              <a:t>83.33%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en" sz="1200">
                <a:solidFill>
                  <a:schemeClr val="dk1"/>
                </a:solidFill>
              </a:rPr>
              <a:t>Support Vector Machine (SVM):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b="1" lang="en" sz="1200">
                <a:solidFill>
                  <a:schemeClr val="dk1"/>
                </a:solidFill>
              </a:rPr>
              <a:t>83.33%</a:t>
            </a:r>
            <a:r>
              <a:rPr lang="en" sz="1200">
                <a:solidFill>
                  <a:schemeClr val="dk1"/>
                </a:solidFill>
              </a:rPr>
              <a:t> (Best configuration: </a:t>
            </a:r>
            <a:r>
              <a:rPr lang="en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sigmoid</a:t>
            </a:r>
            <a:r>
              <a:rPr lang="en" sz="1200">
                <a:solidFill>
                  <a:schemeClr val="dk1"/>
                </a:solidFill>
              </a:rPr>
              <a:t> kernel)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en" sz="1200">
                <a:solidFill>
                  <a:schemeClr val="dk1"/>
                </a:solidFill>
              </a:rPr>
              <a:t>Decision Tree Classifier: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b="1" lang="en" sz="1200">
                <a:solidFill>
                  <a:schemeClr val="dk1"/>
                </a:solidFill>
              </a:rPr>
              <a:t>83.33%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en" sz="1200">
                <a:solidFill>
                  <a:schemeClr val="dk1"/>
                </a:solidFill>
              </a:rPr>
              <a:t>K-Nearest Neighbors (KNN):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b="1" lang="en" sz="1200">
                <a:solidFill>
                  <a:schemeClr val="dk1"/>
                </a:solidFill>
              </a:rPr>
              <a:t>83.33%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Analytical Inference:</a:t>
            </a:r>
            <a:r>
              <a:rPr lang="en" sz="1200">
                <a:solidFill>
                  <a:schemeClr val="dk1"/>
                </a:solidFill>
              </a:rPr>
              <a:t> All models score identically because the test sample size is limited to exactly </a:t>
            </a:r>
            <a:r>
              <a:rPr b="1" lang="en" sz="1200">
                <a:solidFill>
                  <a:schemeClr val="dk1"/>
                </a:solidFill>
              </a:rPr>
              <a:t>18 evaluation records</a:t>
            </a:r>
            <a:r>
              <a:rPr lang="en" sz="1200">
                <a:solidFill>
                  <a:schemeClr val="dk1"/>
                </a:solidFill>
              </a:rPr>
              <a:t>. The confusion matrix confirms the classification models struggle mostly with specific False Positives.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Conclusion:</a:t>
            </a:r>
            <a:r>
              <a:rPr lang="en" sz="1200">
                <a:solidFill>
                  <a:schemeClr val="dk1"/>
                </a:solidFill>
              </a:rPr>
              <a:t> The predictive model confirms that high payload masses combined with later engineering versions strongly guarantee high-probability booster recovery success.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